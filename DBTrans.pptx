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r kasaei" initials="ak" lastIdx="1" clrIdx="0">
    <p:extLst>
      <p:ext uri="{19B8F6BF-5375-455C-9EA6-DF929625EA0E}">
        <p15:presenceInfo xmlns:p15="http://schemas.microsoft.com/office/powerpoint/2012/main" userId="e4446f89fd6bb4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6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7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16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59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4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2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0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4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1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846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12/31/2023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44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D764DB44-2B90-4497-BFD6-77B674C6B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2D1A37-7C2A-4258-95A8-919D781C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344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ollage of images of a brain&#10;&#10;Description automatically generated">
            <a:extLst>
              <a:ext uri="{FF2B5EF4-FFF2-40B4-BE49-F238E27FC236}">
                <a16:creationId xmlns:a16="http://schemas.microsoft.com/office/drawing/2014/main" id="{E3D6A1DC-4F0C-438B-8F8A-09179BC4EB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34" r="-4" b="332"/>
          <a:stretch/>
        </p:blipFill>
        <p:spPr>
          <a:xfrm>
            <a:off x="20" y="10"/>
            <a:ext cx="85343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8E536E-37F0-4FB6-8CF3-94CC191E2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230" y="1194618"/>
            <a:ext cx="7066198" cy="4824230"/>
          </a:xfrm>
        </p:spPr>
        <p:txBody>
          <a:bodyPr anchor="b">
            <a:normAutofit/>
          </a:bodyPr>
          <a:lstStyle/>
          <a:p>
            <a:r>
              <a:rPr lang="en-US" sz="5000" b="1" i="0" u="none" strike="noStrike" baseline="0" dirty="0">
                <a:solidFill>
                  <a:srgbClr val="FFFFFF"/>
                </a:solidFill>
                <a:latin typeface="Times-Bold2"/>
              </a:rPr>
              <a:t>DBTrans: </a:t>
            </a:r>
            <a:br>
              <a:rPr lang="en-US" sz="5000" b="1" i="0" u="none" strike="noStrike" baseline="0" dirty="0">
                <a:solidFill>
                  <a:srgbClr val="FFFFFF"/>
                </a:solidFill>
                <a:latin typeface="Times-Bold2"/>
              </a:rPr>
            </a:br>
            <a:r>
              <a:rPr lang="en-US" sz="5000" b="1" i="0" u="none" strike="noStrike" baseline="0" dirty="0">
                <a:solidFill>
                  <a:srgbClr val="FFFFFF"/>
                </a:solidFill>
                <a:latin typeface="Times-Bold2"/>
              </a:rPr>
              <a:t>A Dual-Branch Vision Transformer for Multi-Modal Brain Tumor Segmentation</a:t>
            </a:r>
            <a:endParaRPr lang="en-US" sz="5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0CC77-6A5C-430F-BB66-4E533DF20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6341" y="1318000"/>
            <a:ext cx="3113717" cy="4700848"/>
          </a:xfrm>
        </p:spPr>
        <p:txBody>
          <a:bodyPr>
            <a:normAutofit/>
          </a:bodyPr>
          <a:lstStyle/>
          <a:p>
            <a:pPr algn="l"/>
            <a:r>
              <a:rPr lang="en-US" sz="2400" b="1" i="0" u="none" strike="noStrike" baseline="0" dirty="0">
                <a:latin typeface="Calibri-Light"/>
              </a:rPr>
              <a:t>Intelligent Analysis of</a:t>
            </a:r>
          </a:p>
          <a:p>
            <a:pPr algn="l"/>
            <a:r>
              <a:rPr lang="en-US" sz="2400" b="1" i="0" u="none" strike="noStrike" baseline="0" dirty="0">
                <a:latin typeface="Calibri-Light"/>
              </a:rPr>
              <a:t>Biomedical Images</a:t>
            </a:r>
          </a:p>
          <a:p>
            <a:pPr algn="l"/>
            <a:r>
              <a:rPr lang="en-US" sz="1800" dirty="0">
                <a:latin typeface="Calibri-Light"/>
              </a:rPr>
              <a:t>Fall-2023</a:t>
            </a:r>
          </a:p>
          <a:p>
            <a:pPr algn="l"/>
            <a:endParaRPr lang="en-US" sz="1800" dirty="0">
              <a:latin typeface="Calibri-Light"/>
            </a:endParaRPr>
          </a:p>
          <a:p>
            <a:pPr algn="l"/>
            <a:r>
              <a:rPr lang="en-US" sz="1800" dirty="0">
                <a:latin typeface="Calibri-Light"/>
              </a:rPr>
              <a:t>Seyed Amir Kasaei</a:t>
            </a:r>
          </a:p>
          <a:p>
            <a:pPr algn="l"/>
            <a:endParaRPr lang="en-US" sz="1400" b="0" i="0" u="none" strike="noStrike" baseline="0" dirty="0">
              <a:latin typeface="Calibri" panose="020F0502020204030204" pitchFamily="34" charset="0"/>
            </a:endParaRPr>
          </a:p>
          <a:p>
            <a:pPr algn="l"/>
            <a:r>
              <a:rPr lang="en-US" sz="1400" b="0" i="0" u="none" strike="noStrike" baseline="0" dirty="0">
                <a:latin typeface="Calibri" panose="020F0502020204030204" pitchFamily="34" charset="0"/>
              </a:rPr>
              <a:t>Prof. M H Rohban</a:t>
            </a:r>
            <a:endParaRPr lang="en-US" sz="160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87805" y="1194618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0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A99EA-2AD0-4B3E-8F49-ED6B78DD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025" y="774085"/>
            <a:ext cx="9922764" cy="1294228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br>
              <a:rPr lang="en-US" dirty="0"/>
            </a:br>
            <a:r>
              <a:rPr lang="en-US" sz="1800" b="0" dirty="0">
                <a:latin typeface="Times-Roman49"/>
              </a:rPr>
              <a:t>G</a:t>
            </a:r>
            <a:r>
              <a:rPr lang="en-US" sz="1800" b="0" i="0" u="none" strike="noStrike" baseline="0" dirty="0">
                <a:latin typeface="Times-Roman49"/>
              </a:rPr>
              <a:t>lioma lesion segmentation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62289-998E-49E6-9578-B9ADCD7C1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517" y="1992302"/>
            <a:ext cx="10811175" cy="423089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U-Net based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lack of global understanding of images for convolution operation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struggle to model the dependencies between distant features and make full use of the contextual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Transformer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self-attention mechanism (can capture long-range dependencies)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When applying 2D models, 3D images need to be sliced along one dimension (may lead to the loss of local information)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difficulty capturing global interaction information while effectively encoding local information (just stack modalities (equally treated) and pass them through a network)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58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2EEE-CC43-4187-AC14-C67F63151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DBTrans </a:t>
            </a:r>
            <a:br>
              <a:rPr lang="en-US" dirty="0"/>
            </a:br>
            <a:r>
              <a:rPr lang="en-US" sz="1600" b="0" dirty="0"/>
              <a:t>A novel encoder-decoder model for </a:t>
            </a:r>
            <a:br>
              <a:rPr lang="en-US" sz="1600" b="0" dirty="0"/>
            </a:br>
            <a:r>
              <a:rPr lang="en-US" sz="1600" b="0" dirty="0"/>
              <a:t>multi-modal medical image segmentation</a:t>
            </a:r>
            <a:endParaRPr lang="en-US" sz="2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A516-646A-4180-914B-14F5407D7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Dual-Branch Encoder-Decoder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  <a:ea typeface="+mj-ea"/>
                <a:cs typeface="+mj-cs"/>
              </a:rPr>
              <a:t>two types of window-based attention mechanisms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>
                <a:latin typeface="+mj-lt"/>
                <a:ea typeface="+mj-ea"/>
                <a:cs typeface="+mj-cs"/>
              </a:rPr>
              <a:t>Shifted Window-based Multi-head Cross Attention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>
                <a:latin typeface="+mj-lt"/>
                <a:ea typeface="+mj-ea"/>
                <a:cs typeface="+mj-cs"/>
              </a:rPr>
              <a:t>Shifted Window-based Multi-head Self Attention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  <a:ea typeface="+mj-ea"/>
                <a:cs typeface="+mj-cs"/>
              </a:rPr>
              <a:t>in parallel to dual-branch encoder layers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Both local and global feature extraction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Designed for 3D medical images, avoiding the information loss caused by data slicing</a:t>
            </a:r>
          </a:p>
        </p:txBody>
      </p:sp>
    </p:spTree>
    <p:extLst>
      <p:ext uri="{BB962C8B-B14F-4D97-AF65-F5344CB8AC3E}">
        <p14:creationId xmlns:p14="http://schemas.microsoft.com/office/powerpoint/2010/main" val="3162583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2EEE-CC43-4187-AC14-C67F63151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DBTrans </a:t>
            </a:r>
            <a:br>
              <a:rPr lang="en-US" dirty="0"/>
            </a:br>
            <a:r>
              <a:rPr lang="en-US" sz="2400" b="0" dirty="0"/>
              <a:t>Contribution</a:t>
            </a:r>
            <a:endParaRPr lang="en-US" sz="2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A516-646A-4180-914B-14F5407D7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two attention mechanisms to model close-window and distant-window dependencies without any extra computational cost.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an extra path to facilitate the decoding process in addition to traditional skip-connection (Shifted-W-MCA-based global branch)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strengthening the fusion effect of the multi-modal information from a global perspective by improving channel attention </a:t>
            </a:r>
          </a:p>
        </p:txBody>
      </p:sp>
    </p:spTree>
    <p:extLst>
      <p:ext uri="{BB962C8B-B14F-4D97-AF65-F5344CB8AC3E}">
        <p14:creationId xmlns:p14="http://schemas.microsoft.com/office/powerpoint/2010/main" val="118055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2AFF-0458-43C2-8294-279D12032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F8985-DE79-431E-B6DB-F876F8285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Dual-Branch Encoder</a:t>
            </a:r>
          </a:p>
        </p:txBody>
      </p:sp>
    </p:spTree>
    <p:extLst>
      <p:ext uri="{BB962C8B-B14F-4D97-AF65-F5344CB8AC3E}">
        <p14:creationId xmlns:p14="http://schemas.microsoft.com/office/powerpoint/2010/main" val="416743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4DC7-DFE3-4619-AA98-2267AEB17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367" y="900049"/>
            <a:ext cx="9922764" cy="1294228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6164D8-0DE5-4413-B0F0-A2AB65056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660" y="1730545"/>
            <a:ext cx="9666679" cy="49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000908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Bjorn">
      <a:dk1>
        <a:sysClr val="windowText" lastClr="000000"/>
      </a:dk1>
      <a:lt1>
        <a:sysClr val="window" lastClr="FFFFFF"/>
      </a:lt1>
      <a:dk2>
        <a:srgbClr val="252747"/>
      </a:dk2>
      <a:lt2>
        <a:srgbClr val="ECE4E9"/>
      </a:lt2>
      <a:accent1>
        <a:srgbClr val="736EB6"/>
      </a:accent1>
      <a:accent2>
        <a:srgbClr val="AB5991"/>
      </a:accent2>
      <a:accent3>
        <a:srgbClr val="AC9F39"/>
      </a:accent3>
      <a:accent4>
        <a:srgbClr val="756029"/>
      </a:accent4>
      <a:accent5>
        <a:srgbClr val="E87850"/>
      </a:accent5>
      <a:accent6>
        <a:srgbClr val="C6922A"/>
      </a:accent6>
      <a:hlink>
        <a:srgbClr val="736EB6"/>
      </a:hlink>
      <a:folHlink>
        <a:srgbClr val="AB59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228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Calibri-Light</vt:lpstr>
      <vt:lpstr>Courier New</vt:lpstr>
      <vt:lpstr>Neue Haas Grotesk Text Pro</vt:lpstr>
      <vt:lpstr>Times-Bold2</vt:lpstr>
      <vt:lpstr>Times-Roman49</vt:lpstr>
      <vt:lpstr>Wingdings</vt:lpstr>
      <vt:lpstr>BjornVTI</vt:lpstr>
      <vt:lpstr>DBTrans:  A Dual-Branch Vision Transformer for Multi-Modal Brain Tumor Segmentation</vt:lpstr>
      <vt:lpstr>Introduction Glioma lesion segmentation</vt:lpstr>
      <vt:lpstr>DBTrans  A novel encoder-decoder model for  multi-modal medical image segmentation</vt:lpstr>
      <vt:lpstr>DBTrans  Contribution</vt:lpstr>
      <vt:lpstr>Methodology</vt:lpstr>
      <vt:lpstr>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DBTrans:  A Dual-Branch Vision Transformer for Multi-Modal Brain Tumor Segmentation</dc:title>
  <dc:creator>amir kasaei</dc:creator>
  <cp:lastModifiedBy>amir kasaei</cp:lastModifiedBy>
  <cp:revision>30</cp:revision>
  <dcterms:created xsi:type="dcterms:W3CDTF">2023-12-30T18:51:16Z</dcterms:created>
  <dcterms:modified xsi:type="dcterms:W3CDTF">2023-12-31T18:11:41Z</dcterms:modified>
</cp:coreProperties>
</file>